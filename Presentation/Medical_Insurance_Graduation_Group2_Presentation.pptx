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6" autoAdjust="0"/>
  </p:normalViewPr>
  <p:slideViewPr>
    <p:cSldViewPr snapToGrid="0" snapToObjects="1">
      <p:cViewPr varScale="1">
        <p:scale>
          <a:sx n="80" d="100"/>
          <a:sy n="80" d="100"/>
        </p:scale>
        <p:origin x="12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70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5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87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1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5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4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77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72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5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9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7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9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32323"/>
                </a:solidFill>
              </a:defRPr>
            </a:pPr>
            <a:r>
              <a:t>Medical Insurance Cost</a:t>
            </a:r>
            <a:br/>
            <a:r>
              <a:t>Analysis &amp;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67E22"/>
                </a:solidFill>
              </a:defRPr>
            </a:pPr>
            <a:r>
              <a:t>Data Analytics using Python, AI &amp;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210312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1,338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individuals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3154680"/>
            <a:ext cx="210312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7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3154680"/>
            <a:ext cx="2103120" cy="1143000"/>
          </a:xfrm>
          <a:prstGeom prst="roundRect">
            <a:avLst/>
          </a:prstGeom>
          <a:solidFill>
            <a:srgbClr val="FFF5EB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67E22"/>
                </a:solidFill>
              </a:rPr>
              <a:t>0.984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Random Forest R²</a:t>
            </a:r>
          </a:p>
        </p:txBody>
      </p:sp>
      <p:sp>
        <p:nvSpPr>
          <p:cNvPr id="9" name="Oval 8"/>
          <p:cNvSpPr/>
          <p:nvPr/>
        </p:nvSpPr>
        <p:spPr>
          <a:xfrm>
            <a:off x="8641080" y="2514600"/>
            <a:ext cx="2057400" cy="2057400"/>
          </a:xfrm>
          <a:prstGeom prst="ellipse">
            <a:avLst/>
          </a:prstGeom>
          <a:solidFill>
            <a:srgbClr val="F7F7F7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5F5F5F"/>
                </a:solidFill>
              </a:rPr>
              <a:t>YOUR
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2323"/>
                </a:solidFill>
              </a:defRPr>
            </a:pPr>
            <a:r>
              <a:rPr dirty="0"/>
              <a:t>Presenter: [Your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5F5F"/>
                </a:solidFill>
              </a:defRPr>
            </a:pPr>
            <a:r>
              <a:t>Problem: understand factors associated with medical insurance charges and predict expected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Medical Insurance Cost Analysis  |  Graduation Presentation  | 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</a:defRPr>
            </a:pPr>
            <a:r>
              <a:t>1.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Dataset and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320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01168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1,338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325880"/>
            <a:ext cx="201168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7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25880"/>
            <a:ext cx="201168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0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missing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25880"/>
            <a:ext cx="201168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0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• Target variable: charges — a continuous numerical value.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• Inputs: age, sex, BMI, children, smoker and region.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t>• The prepared dataset was checked before modelling.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697480"/>
            <a:ext cx="4709160" cy="274320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67E22"/>
                </a:solidFill>
              </a:defRPr>
            </a:pPr>
            <a:r>
              <a:t>Key features</a:t>
            </a:r>
          </a:p>
          <a:p>
            <a:pPr>
              <a:spcAft>
                <a:spcPts val="400"/>
              </a:spcAft>
              <a:defRPr sz="1350">
                <a:solidFill>
                  <a:srgbClr val="232323"/>
                </a:solidFill>
              </a:defRPr>
            </a:pPr>
            <a:r>
              <a:t>• age — age of individual</a:t>
            </a:r>
          </a:p>
          <a:p>
            <a:pPr>
              <a:spcAft>
                <a:spcPts val="400"/>
              </a:spcAft>
              <a:defRPr sz="1350">
                <a:solidFill>
                  <a:srgbClr val="232323"/>
                </a:solidFill>
              </a:defRPr>
            </a:pPr>
            <a:r>
              <a:t>• sex — categorical</a:t>
            </a:r>
          </a:p>
          <a:p>
            <a:pPr>
              <a:spcAft>
                <a:spcPts val="400"/>
              </a:spcAft>
              <a:defRPr sz="1350">
                <a:solidFill>
                  <a:srgbClr val="232323"/>
                </a:solidFill>
              </a:defRPr>
            </a:pPr>
            <a:r>
              <a:t>• bmi — body mass index</a:t>
            </a:r>
          </a:p>
          <a:p>
            <a:pPr>
              <a:spcAft>
                <a:spcPts val="400"/>
              </a:spcAft>
              <a:defRPr sz="1350">
                <a:solidFill>
                  <a:srgbClr val="232323"/>
                </a:solidFill>
              </a:defRPr>
            </a:pPr>
            <a:r>
              <a:t>• children — dependents covered</a:t>
            </a:r>
          </a:p>
          <a:p>
            <a:pPr>
              <a:spcAft>
                <a:spcPts val="400"/>
              </a:spcAft>
              <a:defRPr sz="1350">
                <a:solidFill>
                  <a:srgbClr val="232323"/>
                </a:solidFill>
              </a:defRPr>
            </a:pPr>
            <a:r>
              <a:t>• smoker — smoking status</a:t>
            </a:r>
          </a:p>
          <a:p>
            <a:pPr>
              <a:spcAft>
                <a:spcPts val="400"/>
              </a:spcAft>
              <a:defRPr sz="1350">
                <a:solidFill>
                  <a:srgbClr val="232323"/>
                </a:solidFill>
              </a:defRPr>
            </a:pPr>
            <a:r>
              <a:t>• region — residential region</a:t>
            </a:r>
          </a:p>
          <a:p>
            <a:pPr>
              <a:spcAft>
                <a:spcPts val="400"/>
              </a:spcAft>
              <a:defRPr sz="1350">
                <a:solidFill>
                  <a:srgbClr val="232323"/>
                </a:solidFill>
              </a:defRPr>
            </a:pPr>
            <a:r>
              <a:t>• charges —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Medical Insurance Cost Analysis  |  Graduation Presentation  | 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</a:defRPr>
            </a:pPr>
            <a:r>
              <a:t>2. Visualization — What Did We Find?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The distribution of medical charges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320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00800" cy="36760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69480" y="1417320"/>
            <a:ext cx="4160520" cy="1417320"/>
          </a:xfrm>
          <a:prstGeom prst="roundRect">
            <a:avLst/>
          </a:prstGeom>
          <a:solidFill>
            <a:srgbClr val="FFFAF4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50">
                <a:solidFill>
                  <a:srgbClr val="232323"/>
                </a:solidFill>
              </a:defRPr>
            </a:pPr>
            <a:r>
              <a:t>Charges are right-skewed: most individuals are in the lower and middle cost range, while a smaller group has much higher charges.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3246120"/>
            <a:ext cx="182880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$26,948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mean charge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3246120"/>
            <a:ext cx="182880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$22,391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median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6634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</a:defRPr>
            </a:pPr>
            <a:r>
              <a:t>• The mean is above the median.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</a:defRPr>
            </a:pPr>
            <a:r>
              <a:t>• High-cost observations pull the average upward.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Medical Insurance Cost Analysis  |  Graduation Presentation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</a:defRPr>
            </a:pPr>
            <a:r>
              <a:t>2. Visualization — Relationships &amp; 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Looking beyond simple averages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320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486400" cy="3150870"/>
          </a:xfrm>
          <a:prstGeom prst="rect">
            <a:avLst/>
          </a:prstGeom>
        </p:spPr>
      </p:pic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34440"/>
            <a:ext cx="5486400" cy="31508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074920"/>
            <a:ext cx="5120640" cy="868680"/>
          </a:xfrm>
          <a:prstGeom prst="roundRect">
            <a:avLst/>
          </a:prstGeom>
          <a:solidFill>
            <a:srgbClr val="FFFAF4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50">
                <a:solidFill>
                  <a:srgbClr val="232323"/>
                </a:solidFill>
              </a:defRPr>
            </a:pPr>
            <a:r>
              <a:t>Age vs charges: r ≈ 0.26</a:t>
            </a:r>
            <a:br/>
            <a:r>
              <a:t>BMI vs charges: r ≈ 0.21</a:t>
            </a:r>
            <a:br/>
            <a:r>
              <a:t>Both are weak positive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983480"/>
            <a:ext cx="5120640" cy="1051560"/>
          </a:xfrm>
          <a:prstGeom prst="roundRect">
            <a:avLst/>
          </a:prstGeom>
          <a:solidFill>
            <a:srgbClr val="FFFAF4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50">
                <a:solidFill>
                  <a:srgbClr val="232323"/>
                </a:solidFill>
              </a:defRPr>
            </a:pPr>
            <a:r>
              <a:t>Smoking status showed the strongest observed difference:</a:t>
            </a:r>
            <a:br/>
            <a:r>
              <a:t>Non-smokers ≈ $20,780  |  Smokers ≈ $50,466  |  ≈2.4× higher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Medical Insurance Cost Analysis  |  Graduation Presentation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</a:defRPr>
            </a:pPr>
            <a:r>
              <a:t>3. Prediction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From exploration to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320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Regression was selected because charges are continuous.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The model uses age, BMI, children, sex, smoking status and region.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I compared Linear Regression, Ridge Regression and Random Forest.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Random Forest combines many decision trees and averages their predictions to capture non-linear patterns.</a:t>
            </a:r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440680" cy="31246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5257800"/>
            <a:ext cx="5166360" cy="731520"/>
          </a:xfrm>
          <a:prstGeom prst="roundRect">
            <a:avLst/>
          </a:prstGeom>
          <a:solidFill>
            <a:srgbClr val="FFFAF4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50">
                <a:solidFill>
                  <a:srgbClr val="232323"/>
                </a:solidFill>
              </a:defRPr>
            </a:pPr>
            <a:r>
              <a:t>Test-set R² comparison</a:t>
            </a:r>
            <a:br/>
            <a:r>
              <a:t>Linear Regression: 0.965   |   Ridge: 0.965   |   Random Forest: 0.984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Medical Insurance Cost Analysis  |  Graduation Presentation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</a:defRPr>
            </a:pPr>
            <a:r>
              <a:t>4. Results, Reliability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How well did the model perform?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320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2286000" cy="1143000"/>
          </a:xfrm>
          <a:prstGeom prst="roundRect">
            <a:avLst/>
          </a:prstGeom>
          <a:solidFill>
            <a:srgbClr val="FFF5EB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67E22"/>
                </a:solidFill>
              </a:rPr>
              <a:t>$1,297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Random Forest 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280160"/>
            <a:ext cx="228600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$1,643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Random Forest 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280160"/>
            <a:ext cx="2286000" cy="1143000"/>
          </a:xfrm>
          <a:prstGeom prst="roundRect">
            <a:avLst/>
          </a:prstGeom>
          <a:solidFill>
            <a:srgbClr val="FFF5EB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67E22"/>
                </a:solidFill>
              </a:rPr>
              <a:t>0.984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test 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280160"/>
            <a:ext cx="2286000" cy="114300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0.982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5-fold CV mean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20">
                <a:solidFill>
                  <a:srgbClr val="232323"/>
                </a:solidFill>
              </a:defRPr>
            </a:pPr>
            <a:r>
              <a:t>• MAE measures the typical absolute prediction error.</a:t>
            </a:r>
          </a:p>
          <a:p>
            <a:pPr>
              <a:spcAft>
                <a:spcPts val="800"/>
              </a:spcAft>
              <a:defRPr sz="1420">
                <a:solidFill>
                  <a:srgbClr val="232323"/>
                </a:solidFill>
              </a:defRPr>
            </a:pPr>
            <a:r>
              <a:t>• RMSE penalizes larger errors more strongly.</a:t>
            </a:r>
          </a:p>
          <a:p>
            <a:pPr>
              <a:spcAft>
                <a:spcPts val="800"/>
              </a:spcAft>
              <a:defRPr sz="1420">
                <a:solidFill>
                  <a:srgbClr val="232323"/>
                </a:solidFill>
              </a:defRPr>
            </a:pPr>
            <a:r>
              <a:t>• R² describes the proportion of variation explained by the model.</a:t>
            </a:r>
          </a:p>
          <a:p>
            <a:pPr>
              <a:spcAft>
                <a:spcPts val="800"/>
              </a:spcAft>
              <a:defRPr sz="1420">
                <a:solidFill>
                  <a:srgbClr val="232323"/>
                </a:solidFill>
              </a:defRPr>
            </a:pPr>
            <a:r>
              <a:t>• Five-fold cross-validation produced a mean R² of 0.982, close to the 0.984 test R².</a:t>
            </a:r>
          </a:p>
          <a:p>
            <a:pPr>
              <a:spcAft>
                <a:spcPts val="800"/>
              </a:spcAft>
              <a:defRPr sz="1420">
                <a:solidFill>
                  <a:srgbClr val="232323"/>
                </a:solidFill>
              </a:defRPr>
            </a:pPr>
            <a:r>
              <a:t>• Accuracy, precision and recall are classification metrics; this project predicts a continuous charge, so MAE, RMSE and R² are the appropriate reported metrics.</a:t>
            </a:r>
          </a:p>
          <a:p>
            <a:pPr>
              <a:spcAft>
                <a:spcPts val="800"/>
              </a:spcAft>
              <a:defRPr sz="1420">
                <a:solidFill>
                  <a:srgbClr val="232323"/>
                </a:solidFill>
              </a:defRPr>
            </a:pPr>
            <a:r>
              <a:t>• K-Means identified four broad customer segments.</a:t>
            </a:r>
          </a:p>
        </p:txBody>
      </p:sp>
      <p:pic>
        <p:nvPicPr>
          <p:cNvPr id="11" name="Picture 10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788920"/>
            <a:ext cx="3383280" cy="20299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5532120"/>
            <a:ext cx="3429000" cy="640080"/>
          </a:xfrm>
          <a:prstGeom prst="roundRect">
            <a:avLst/>
          </a:prstGeom>
          <a:solidFill>
            <a:srgbClr val="FFFAF4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50">
                <a:solidFill>
                  <a:srgbClr val="232323"/>
                </a:solidFill>
              </a:defRPr>
            </a:pPr>
            <a:r>
              <a:t>Improvement: validate the workflow on additional datasets and continue tuning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Medical Insurance Cost Analysis  |  Graduation Presentation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</a:defRPr>
            </a:pPr>
            <a:r>
              <a:t>5. Closing —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From raw data to machine-learning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3200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FFF5EB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67E22"/>
                </a:solidFill>
              </a:rPr>
              <a:t>≈2.4×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higher average charges for smokers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423160" cy="1234440"/>
          </a:xfrm>
          <a:prstGeom prst="roundRect">
            <a:avLst/>
          </a:prstGeom>
          <a:solidFill>
            <a:srgbClr val="FFF5EB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E67E22"/>
                </a:solidFill>
              </a:rPr>
              <a:t>0.984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Random Forest test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17320"/>
            <a:ext cx="242316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0.982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5-fold CV mean 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417320"/>
            <a:ext cx="242316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32323"/>
                </a:solidFill>
              </a:rPr>
              <a:t>4</a:t>
            </a:r>
          </a:p>
          <a:p>
            <a:pPr algn="ctr"/>
            <a:r>
              <a:rPr sz="1050">
                <a:solidFill>
                  <a:srgbClr val="5F5F5F"/>
                </a:solidFill>
              </a:rPr>
              <a:t>K-Means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Smoking status showed the strongest observed difference in charges.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Age and BMI showed weaker positive relationships.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Random Forest gave the strongest test-set performance among the three models compared.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Cross-validation supported the consistency of the model result.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t>• The project demonstrated a complete analytics workflow: data preparation → visualization → modelling → evaluation → segmentation.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715000"/>
            <a:ext cx="6035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</a:defRPr>
            </a:pPr>
            <a: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5F5F"/>
                </a:solidFill>
              </a:defRPr>
            </a:pPr>
            <a:r>
              <a:t>Medical Insurance Cost Analysis  |  Graduation Presentation  |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74</TotalTime>
  <Words>628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Corbel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Sarasiah Munene Kanelo</cp:lastModifiedBy>
  <cp:revision>8</cp:revision>
  <dcterms:created xsi:type="dcterms:W3CDTF">2013-01-27T09:14:16Z</dcterms:created>
  <dcterms:modified xsi:type="dcterms:W3CDTF">2026-09-16T10:38:20Z</dcterms:modified>
  <cp:category/>
</cp:coreProperties>
</file>